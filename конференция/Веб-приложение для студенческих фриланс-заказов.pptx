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Inter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0C57E0-4318-4F3B-8861-469D045707AA}">
  <a:tblStyle styleId="{320C57E0-4318-4F3B-8861-469D045707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8d94822f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d8d94822f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d94822f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d8d94822f4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8d94822f4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8d94822f4_0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8d94822f4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d8d94822f4_0_2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8d94822f4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d8d94822f4_0_3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8d94822f4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d8d94822f4_0_4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00" y="1681952"/>
            <a:ext cx="116016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Веб-приложение для выполнения</a:t>
            </a:r>
            <a:br>
              <a:rPr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студенческих фриланс-заказов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700875" y="4883300"/>
            <a:ext cx="49194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Выполнила:</a:t>
            </a:r>
            <a:r>
              <a:rPr i="0" lang="en-US" sz="2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Глухова Д.В.</a:t>
            </a:r>
            <a:endParaRPr sz="28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Руководитель:</a:t>
            </a:r>
            <a:r>
              <a:rPr i="0" lang="en-US" sz="2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Уласевич Н. И.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ПРОБЛЕМА ХОЛОДНОГО СТАРТА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2243850"/>
            <a:ext cx="110490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Глобальные платформы ориентированы на опытных специалистов. Новички не получают доверие заказчиков. Система решает проблему отсутствия портфолио и рейтинга через специализированную архитектуру.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ЦЕЛЬ РАЗРАБОТКИ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740100" y="2243850"/>
            <a:ext cx="107118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Проект создает среду для профессиональной социализации студентов. Платформа превращает учебные навыки в реальные кейсы. Упрощенный механизм взаимодействия ускоряет интеграцию новичков в рынок IT-услуг.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76500"/>
            <a:ext cx="349240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476500"/>
            <a:ext cx="3492549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476500"/>
            <a:ext cx="3668125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ТЕХНИЧЕСКАЯ РЕАЛИЗАЦИЯ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384738" y="2814400"/>
            <a:ext cx="284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962025" y="3943350"/>
            <a:ext cx="2711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Node.js и Express. База данных MySQL через ORM Sequelize.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280950" y="2830275"/>
            <a:ext cx="284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4740175" y="3943350"/>
            <a:ext cx="2711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React и TypeScript. Строгая типизация данных повышает надежность.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8859200" y="2830275"/>
            <a:ext cx="316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Инфраструктура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8518475" y="3943350"/>
            <a:ext cx="2711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Docker и Docker Compose обеспечивают удобство развертывания.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800" y="290512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4900" y="29051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25813" y="2905125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00" y="3167775"/>
            <a:ext cx="5610299" cy="546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00" y="4514652"/>
            <a:ext cx="5610299" cy="5468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00" y="5861529"/>
            <a:ext cx="5610299" cy="54685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771525" y="617660"/>
            <a:ext cx="1138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ОРКЕСТРАЦИЯ И СЕТЬ DOCKER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14400" y="1870025"/>
            <a:ext cx="113814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Docker Compose объединяет три изолированных сервиса в общую виртуальную сеть </a:t>
            </a: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freelance_network</a:t>
            </a:r>
            <a:r>
              <a:rPr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 Это исключает конфликты портов и зависимостей.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926050" y="3326500"/>
            <a:ext cx="4996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Service db:</a:t>
            </a:r>
            <a:r>
              <a:rPr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MySQL 8.0 с выделенным томом mysql_data.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925946" y="4392875"/>
            <a:ext cx="5256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Service backend:</a:t>
            </a:r>
            <a:r>
              <a:rPr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Node.js среда с автоматическим перезапуском.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925950" y="5434125"/>
            <a:ext cx="5256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Service frontend:</a:t>
            </a:r>
            <a:r>
              <a:rPr i="0" lang="en-US" sz="2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Vite-сервер с проксированием запросов.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108" y="3988053"/>
            <a:ext cx="182284" cy="243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108" y="5334930"/>
            <a:ext cx="182284" cy="24304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3462925"/>
            <a:ext cx="2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4392875"/>
            <a:ext cx="2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5386800"/>
            <a:ext cx="2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759475" y="555810"/>
            <a:ext cx="1138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РЕЛЯЦИОННАЯ СТРУКТУРА И ORM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18"/>
          <p:cNvGraphicFramePr/>
          <p:nvPr/>
        </p:nvGraphicFramePr>
        <p:xfrm>
          <a:off x="6334125" y="28933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{320C57E0-4318-4F3B-8861-469D045707AA}</a:tableStyleId>
              </a:tblPr>
              <a:tblGrid>
                <a:gridCol w="2884575"/>
                <a:gridCol w="2392275"/>
              </a:tblGrid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Сущность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Тип связи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— Profile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One-to-One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Category — Order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One-to-Many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Profile — Skill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Many-to-Many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" name="Google Shape;142;p18"/>
          <p:cNvSpPr txBox="1"/>
          <p:nvPr/>
        </p:nvSpPr>
        <p:spPr>
          <a:xfrm>
            <a:off x="876300" y="182198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Архитектура БД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876300" y="2709650"/>
            <a:ext cx="4920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ORM Sequelize реализует связи One-to-Many и Many-to-Many. Система поддерживает целостность данных через каскадные удаления (ON DELETE CASCADE).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334125" y="3993505"/>
            <a:ext cx="288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9218711" y="3993505"/>
            <a:ext cx="239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334125" y="4555480"/>
            <a:ext cx="288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9218711" y="4555480"/>
            <a:ext cx="239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334125" y="5117455"/>
            <a:ext cx="2884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9218711" y="5117455"/>
            <a:ext cx="239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103700"/>
            <a:ext cx="3517850" cy="35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000" y="2103700"/>
            <a:ext cx="3517850" cy="35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975" y="2103700"/>
            <a:ext cx="3518000" cy="358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81025" y="553425"/>
            <a:ext cx="12304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СОБЫТИЙНАЯ МОДЕЛЬ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729900" y="2300145"/>
            <a:ext cx="307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Handshake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728650" y="3047500"/>
            <a:ext cx="32226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Клиент инициирует обновление протокола с HTTP на WebSocket через библиотеку Socket.io.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4485875" y="2300145"/>
            <a:ext cx="307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Emission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484624" y="3047500"/>
            <a:ext cx="3222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Сервер транслирует сообщения конкретным комнатам</a:t>
            </a:r>
            <a:r>
              <a:rPr lang="en-US" sz="2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на основе идентификаторов чатов.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241850" y="2300145"/>
            <a:ext cx="307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Latency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8388275" y="3047496"/>
            <a:ext cx="2927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Технология обеспечивает мгновенную передачу данных без повторных запросов к API.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БЕЗОПАСНОСТЬ ДАННЫХ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2" name="Google Shape;172;p20"/>
          <p:cNvGraphicFramePr/>
          <p:nvPr/>
        </p:nvGraphicFramePr>
        <p:xfrm>
          <a:off x="571500" y="2762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{320C57E0-4318-4F3B-8861-469D045707AA}</a:tableStyleId>
              </a:tblPr>
              <a:tblGrid>
                <a:gridCol w="3354150"/>
                <a:gridCol w="7694850"/>
              </a:tblGrid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Компонент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Функция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JWT-токены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Аутентификация пользователей.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Bcrypt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Хеширование паролей.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Валидация входных данных.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20"/>
          <p:cNvSpPr/>
          <p:nvPr/>
        </p:nvSpPr>
        <p:spPr>
          <a:xfrm>
            <a:off x="571500" y="3324225"/>
            <a:ext cx="335413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925639" y="3324225"/>
            <a:ext cx="769486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71500" y="3919537"/>
            <a:ext cx="335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925639" y="3919537"/>
            <a:ext cx="769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71500" y="4500562"/>
            <a:ext cx="335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925639" y="4500562"/>
            <a:ext cx="769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71500" y="5081587"/>
            <a:ext cx="33541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925639" y="5081587"/>
            <a:ext cx="76948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200" y="4032155"/>
            <a:ext cx="52768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771525" y="578710"/>
            <a:ext cx="1138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МЕХАНИЗМ АУТЕНТИФИКАЦИИ JWT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71500" y="3750950"/>
            <a:ext cx="5762700" cy="2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Метод исключает хранение сессий в оперативной памяти сервера. Это повышает масштабируемость системы.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935548" y="1845950"/>
            <a:ext cx="827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Header:</a:t>
            </a:r>
            <a:r>
              <a:rPr i="0" lang="en-US" sz="2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алгоритм шифрования HS256.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945826" y="2392500"/>
            <a:ext cx="1176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Payload:</a:t>
            </a:r>
            <a:r>
              <a:rPr i="0" lang="en-US" sz="2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зашифрованные данные пользователя и срок жизни токена.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953551" y="2939050"/>
            <a:ext cx="1138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Signature:</a:t>
            </a:r>
            <a:r>
              <a:rPr i="0" lang="en-US" sz="28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секретный ключ сервера для проверки подлинности.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1845950"/>
            <a:ext cx="2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81775" y="2392497"/>
            <a:ext cx="2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89500" y="2939046"/>
            <a:ext cx="2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13462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48576"/>
            <a:ext cx="3517850" cy="43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7001" y="1848576"/>
            <a:ext cx="3517850" cy="43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976" y="1848576"/>
            <a:ext cx="3517999" cy="43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810600" y="543160"/>
            <a:ext cx="1138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ОПТИМИЗАЦИЯ И СТАБИЛЬНОСТЬ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876300" y="2411377"/>
            <a:ext cx="307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Safety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876300" y="3246503"/>
            <a:ext cx="2927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TypeScript на фронтенде отлавливает ошибки на этапе разработки. Это сокращает время отладки.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632276" y="2411377"/>
            <a:ext cx="307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Validation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4632276" y="3246503"/>
            <a:ext cx="2927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Библиотека Yup проверяет входные данные на бэкенде. Это предотвращает запись некорректных структур в БД.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8388251" y="2411377"/>
            <a:ext cx="307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 API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8388251" y="3246503"/>
            <a:ext cx="2927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6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Архитектура REST API позволяет независимо обновлять части приложения без остановки сервиса.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71500" y="12950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/>
        </p:nvSpPr>
        <p:spPr>
          <a:xfrm>
            <a:off x="762000" y="568450"/>
            <a:ext cx="11430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ДУАЛЬНАЯ МОДЕЛЬ</a:t>
            </a:r>
            <a:endParaRPr sz="4400"/>
          </a:p>
        </p:txBody>
      </p:sp>
      <p:sp>
        <p:nvSpPr>
          <p:cNvPr id="215" name="Google Shape;215;p23"/>
          <p:cNvSpPr txBox="1"/>
          <p:nvPr/>
        </p:nvSpPr>
        <p:spPr>
          <a:xfrm>
            <a:off x="762000" y="2792550"/>
            <a:ext cx="59865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Система объединяет карточки услуг и классические заказы. Исполнитель сам создает предложения на основе компетенций. Заказчик находит решение под узкие задачи.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3" title="изображение_2026-04-23_160907625.png"/>
          <p:cNvPicPr preferRelativeResize="0"/>
          <p:nvPr/>
        </p:nvPicPr>
        <p:blipFill rotWithShape="1">
          <a:blip r:embed="rId3">
            <a:alphaModFix/>
          </a:blip>
          <a:srcRect b="0" l="0" r="32231" t="0"/>
          <a:stretch/>
        </p:blipFill>
        <p:spPr>
          <a:xfrm>
            <a:off x="7305400" y="1752275"/>
            <a:ext cx="3933576" cy="4839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571500" y="12950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ВСТРОЕННАЯ КОММУНИКАЦИЯ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2024050"/>
            <a:ext cx="58197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Модуль на базе WebSocket обеспечивает связь в реальном времени. История переписки хранится внутри экосистемы маркетплейса. Прозрачность условий исключает потерю важной информации.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4" title="изображение_2026-04-23_161029711.png"/>
          <p:cNvPicPr preferRelativeResize="0"/>
          <p:nvPr/>
        </p:nvPicPr>
        <p:blipFill rotWithShape="1">
          <a:blip r:embed="rId4">
            <a:alphaModFix/>
          </a:blip>
          <a:srcRect b="3678" l="0" r="0" t="3678"/>
          <a:stretch/>
        </p:blipFill>
        <p:spPr>
          <a:xfrm>
            <a:off x="6391275" y="2033587"/>
            <a:ext cx="5219702" cy="379095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/>
          <p:nvPr/>
        </p:nvSpPr>
        <p:spPr>
          <a:xfrm>
            <a:off x="571500" y="12950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РЕПУТАЦИОННЫЙ КОНТУР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124890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571500" y="2768125"/>
            <a:ext cx="72609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Конвертация опыта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571500" y="3555575"/>
            <a:ext cx="11049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Рейтинг формируется из выполненных задач и отзывов. Студенты накапливают подтвержденный опыт для выхода на глобальный рынок.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/>
        </p:nvSpPr>
        <p:spPr>
          <a:xfrm>
            <a:off x="571500" y="571500"/>
            <a:ext cx="11601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ВЫВОД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571500" y="2257900"/>
            <a:ext cx="110490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Архитектура приложения решает проблему отсутствия опыта у студентов. Связка Node.js и React обеспечивает высокую скорость работы. Контейнеризация через Docker делает развертывание платформы простым. Система превращает учебные проекты в реальные кейсы. Студенты получают инструмент для формирования репутации и выхода на рынок фриланса.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571500" y="12950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